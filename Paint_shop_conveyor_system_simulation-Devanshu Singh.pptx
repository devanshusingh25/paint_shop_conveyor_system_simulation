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" charset="1" panose="00000500000000000000"/>
      <p:regular r:id="rId12"/>
    </p:embeddedFont>
    <p:embeddedFont>
      <p:font typeface="HK Grotesk Italics" charset="1" panose="00000500000000000000"/>
      <p:regular r:id="rId13"/>
    </p:embeddedFont>
    <p:embeddedFont>
      <p:font typeface="Glacial Indifference Bold" charset="1" panose="000008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7143371"/>
            <a:ext cx="7801192" cy="561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Devanshu Shivkumar Singh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Autonex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21432" y="3215455"/>
            <a:ext cx="9845135" cy="3024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9"/>
              </a:lnSpc>
            </a:pPr>
            <a:r>
              <a:rPr lang="en-US" b="true" sz="6999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PAINT SHOP CONVEYOR SYSTEM SIMULATION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9267916" y="1028700"/>
            <a:ext cx="8229600" cy="8229600"/>
            <a:chOff x="0" y="0"/>
            <a:chExt cx="14840029" cy="148400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33258" y="-75"/>
              <a:ext cx="14906544" cy="14840178"/>
            </a:xfrm>
            <a:custGeom>
              <a:avLst/>
              <a:gdLst/>
              <a:ahLst/>
              <a:cxnLst/>
              <a:rect r="r" b="b" t="t" l="l"/>
              <a:pathLst>
                <a:path h="14840178" w="14906544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769EBE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68022" y="200309"/>
              <a:ext cx="14503985" cy="14439411"/>
            </a:xfrm>
            <a:custGeom>
              <a:avLst/>
              <a:gdLst/>
              <a:ahLst/>
              <a:cxnLst/>
              <a:rect r="r" b="b" t="t" l="l"/>
              <a:pathLst>
                <a:path h="14439411" w="14503985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3A5677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31276" y="561946"/>
              <a:ext cx="13777477" cy="13716137"/>
            </a:xfrm>
            <a:custGeom>
              <a:avLst/>
              <a:gdLst/>
              <a:ahLst/>
              <a:cxnLst/>
              <a:rect r="r" b="b" t="t" l="l"/>
              <a:pathLst>
                <a:path h="13716137" w="1377747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4"/>
              <a:stretch>
                <a:fillRect l="-24712" t="0" r="-24712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28700" y="2689647"/>
            <a:ext cx="7245858" cy="10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01644" y="4018598"/>
            <a:ext cx="7899970" cy="58521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5884" indent="-297942" lvl="1">
              <a:lnSpc>
                <a:spcPts val="3863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This project simulates a paint shop conveyor system used in an automotive manufacturing plant.</a:t>
            </a:r>
          </a:p>
          <a:p>
            <a:pPr algn="l" marL="595884" indent="-297942" lvl="1">
              <a:lnSpc>
                <a:spcPts val="3863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The system consists of three sequential stations: Cleaning, Primer, and Painting.</a:t>
            </a:r>
          </a:p>
          <a:p>
            <a:pPr algn="l" marL="595884" indent="-297942" lvl="1">
              <a:lnSpc>
                <a:spcPts val="3863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Using SimPy, the simulation models real-time car arrivals, machine constraints, queues, and processing times over one full 8-hour shift.</a:t>
            </a:r>
          </a:p>
          <a:p>
            <a:pPr algn="l" marL="595884" indent="-297942" lvl="1">
              <a:lnSpc>
                <a:spcPts val="3863"/>
              </a:lnSpc>
              <a:buFont typeface="Arial"/>
              <a:buChar char="•"/>
            </a:pPr>
            <a:r>
              <a:rPr lang="en-US" sz="276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The main goal is to analyze system performance, measure key metrics, and identify bottlenecks in the process.</a:t>
            </a:r>
          </a:p>
          <a:p>
            <a:pPr algn="l">
              <a:lnSpc>
                <a:spcPts val="414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962025"/>
            <a:ext cx="4855878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Autonex AI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5400000">
            <a:off x="5887357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14514286"/>
                </a:moveTo>
                <a:lnTo>
                  <a:pt x="10287000" y="14514286"/>
                </a:lnTo>
                <a:lnTo>
                  <a:pt x="10287000" y="0"/>
                </a:lnTo>
                <a:lnTo>
                  <a:pt x="0" y="0"/>
                </a:lnTo>
                <a:lnTo>
                  <a:pt x="0" y="14514286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22375" y="249500"/>
            <a:ext cx="6448573" cy="9672860"/>
          </a:xfrm>
          <a:custGeom>
            <a:avLst/>
            <a:gdLst/>
            <a:ahLst/>
            <a:cxnLst/>
            <a:rect r="r" b="b" t="t" l="l"/>
            <a:pathLst>
              <a:path h="9672860" w="6448573">
                <a:moveTo>
                  <a:pt x="0" y="0"/>
                </a:moveTo>
                <a:lnTo>
                  <a:pt x="6448573" y="0"/>
                </a:lnTo>
                <a:lnTo>
                  <a:pt x="6448573" y="9672859"/>
                </a:lnTo>
                <a:lnTo>
                  <a:pt x="0" y="9672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07073" y="2917220"/>
            <a:ext cx="8752227" cy="10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SIMULATION MODEL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972301" y="4467002"/>
            <a:ext cx="7821771" cy="4791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Cars arrive and pass sequentially through the Cleaning, Primer, and Painting stations.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If a station is busy, cars wait in the corresponding queue until processing is available.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After completion, system metrics are collected to analyze performance and identify bottlenecks.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2403422" y="962025"/>
            <a:ext cx="4855878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Autonex AI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34307" y="2450254"/>
            <a:ext cx="7036704" cy="6404888"/>
          </a:xfrm>
          <a:custGeom>
            <a:avLst/>
            <a:gdLst/>
            <a:ahLst/>
            <a:cxnLst/>
            <a:rect r="r" b="b" t="t" l="l"/>
            <a:pathLst>
              <a:path h="6404888" w="7036704">
                <a:moveTo>
                  <a:pt x="0" y="0"/>
                </a:moveTo>
                <a:lnTo>
                  <a:pt x="7036704" y="0"/>
                </a:lnTo>
                <a:lnTo>
                  <a:pt x="7036704" y="6404888"/>
                </a:lnTo>
                <a:lnTo>
                  <a:pt x="0" y="64048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-598691" y="1947120"/>
            <a:ext cx="6142093" cy="10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RESULTS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1190" y="3133017"/>
            <a:ext cx="9918768" cy="593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   1 Cleaning, 2 Primer, 1 Painting Station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Cleaning Station: Operates near full utilization, causing cars to wait and queues to form at the entry stage.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Primer Station: Two parallel machines allow smooth processing with minimal waiting and low congestion.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Painting Station: Acts as the main bottleneck since only one car can be processed at a time, leading to long queues and higher waiting time.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Overall Insight: System delays are mainly due to capacity limitations at single-machine stations, clearly indicating areas for optimization.</a:t>
            </a:r>
          </a:p>
          <a:p>
            <a:pPr algn="l">
              <a:lnSpc>
                <a:spcPts val="391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87525" y="962025"/>
            <a:ext cx="4855878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Autonex AI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2113643" y="-2113643"/>
            <a:ext cx="10287000" cy="14514286"/>
          </a:xfrm>
          <a:custGeom>
            <a:avLst/>
            <a:gdLst/>
            <a:ahLst/>
            <a:cxnLst/>
            <a:rect r="r" b="b" t="t" l="l"/>
            <a:pathLst>
              <a:path h="14514286" w="10287000">
                <a:moveTo>
                  <a:pt x="0" y="0"/>
                </a:moveTo>
                <a:lnTo>
                  <a:pt x="10287000" y="0"/>
                </a:lnTo>
                <a:lnTo>
                  <a:pt x="10287000" y="14514286"/>
                </a:lnTo>
                <a:lnTo>
                  <a:pt x="0" y="145142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790513" y="2026859"/>
            <a:ext cx="6706974" cy="10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39"/>
              </a:lnSpc>
            </a:pPr>
            <a:r>
              <a:rPr lang="en-US" b="true" sz="7114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12373" y="3816442"/>
            <a:ext cx="14663254" cy="5042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The simulation demonstrates that stations with limited capacity, especially single-machine stations, directly impact waiting times and overall system efficiency.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Parallel processing, as implemented at the Primer station, proves effective in reducing queues and balancing workflow across the system.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This simulation model serves as a useful tool to evaluate different machine configurations and arrival patterns, helping in data-driven decisions to improve throughput and reduce bottlenecks.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6716061" y="962025"/>
            <a:ext cx="4855878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Autonex AI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338336" y="-3273956"/>
            <a:ext cx="9611327" cy="13560956"/>
          </a:xfrm>
          <a:custGeom>
            <a:avLst/>
            <a:gdLst/>
            <a:ahLst/>
            <a:cxnLst/>
            <a:rect r="r" b="b" t="t" l="l"/>
            <a:pathLst>
              <a:path h="13560956" w="9611327">
                <a:moveTo>
                  <a:pt x="0" y="0"/>
                </a:moveTo>
                <a:lnTo>
                  <a:pt x="9611328" y="0"/>
                </a:lnTo>
                <a:lnTo>
                  <a:pt x="9611328" y="13560956"/>
                </a:lnTo>
                <a:lnTo>
                  <a:pt x="0" y="135609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243404" y="5626628"/>
            <a:ext cx="7801192" cy="55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70"/>
              </a:lnSpc>
            </a:pPr>
            <a:r>
              <a:rPr lang="en-US" sz="3264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FOR YOUR ATTENTION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6061" y="962025"/>
            <a:ext cx="4855878" cy="5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i="true">
                <a:solidFill>
                  <a:srgbClr val="FFFFFF"/>
                </a:solidFill>
                <a:latin typeface="HK Grotesk Italics"/>
                <a:ea typeface="HK Grotesk Italics"/>
                <a:cs typeface="HK Grotesk Italics"/>
                <a:sym typeface="HK Grotesk Italics"/>
              </a:rPr>
              <a:t>Autonex AI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1632" y="4171798"/>
            <a:ext cx="8984736" cy="1451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7"/>
              </a:lnSpc>
            </a:pPr>
            <a:r>
              <a:rPr lang="en-US" b="true" sz="10006">
                <a:solidFill>
                  <a:srgbClr val="FFFFFF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DAG8tliANS4</dc:identifier>
  <dcterms:modified xsi:type="dcterms:W3CDTF">2011-08-01T06:04:30Z</dcterms:modified>
  <cp:revision>1</cp:revision>
  <dc:title>Autonex AI</dc:title>
</cp:coreProperties>
</file>